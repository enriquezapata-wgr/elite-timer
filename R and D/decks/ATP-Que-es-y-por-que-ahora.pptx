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aquí. La idea es que el que escucha se identifique: no tiene diagnóstico y tampoco tiene fuerza.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dos escalones punteados son predicción. Decirlo en voz alta, no dejarlo al pie.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lo general a lo particular. Aquí es donde aterriza qué es ATP.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es donde se ve que no es una app de hábitos: hay algo leyendo las cinco pistas juntas.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el mecanismo, no con autoelogio. La urgencia es que la serie de datos empieza el día que empieza.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iel-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4008" cy="6858000"/>
          </a:xfrm>
          <a:prstGeom prst="rect">
            <a:avLst/>
          </a:prstGeom>
        </p:spPr>
      </p:pic>
      <p:pic>
        <p:nvPicPr>
          <p:cNvPr id="3" name="Image 1" descr="molecul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237744"/>
            <a:ext cx="274320" cy="24505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21945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ATP</a:t>
            </a:r>
            <a:endParaRPr lang="en-US" sz="1300" dirty="0"/>
          </a:p>
        </p:txBody>
      </p:sp>
      <p:pic>
        <p:nvPicPr>
          <p:cNvPr id="5" name="Image 2" descr="molecula.png">    </p:cNvPr>
          <p:cNvPicPr>
            <a:picLocks noChangeAspect="1"/>
          </p:cNvPicPr>
          <p:nvPr/>
        </p:nvPicPr>
        <p:blipFill>
          <a:blip r:embed="rId3">
            <a:alphaModFix amt="24000"/>
          </a:blip>
          <a:stretch>
            <a:fillRect/>
          </a:stretch>
        </p:blipFill>
        <p:spPr>
          <a:xfrm>
            <a:off x="8686800" y="502920"/>
            <a:ext cx="4754880" cy="4242816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713232" y="658368"/>
            <a:ext cx="10835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1ABC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QUÉ ES ESTAR SANO</a:t>
            </a:r>
            <a:endParaRPr lang="en-US" sz="1150" dirty="0"/>
          </a:p>
        </p:txBody>
      </p:sp>
      <p:sp>
        <p:nvSpPr>
          <p:cNvPr id="7" name="Shape 2"/>
          <p:cNvSpPr/>
          <p:nvPr/>
        </p:nvSpPr>
        <p:spPr>
          <a:xfrm>
            <a:off x="713232" y="914400"/>
            <a:ext cx="236830" cy="32004"/>
          </a:xfrm>
          <a:prstGeom prst="rect">
            <a:avLst/>
          </a:prstGeom>
          <a:solidFill>
            <a:srgbClr val="A8E02A"/>
          </a:solidFill>
          <a:ln/>
        </p:spPr>
      </p:sp>
      <p:sp>
        <p:nvSpPr>
          <p:cNvPr id="8" name="Shape 3"/>
          <p:cNvSpPr/>
          <p:nvPr/>
        </p:nvSpPr>
        <p:spPr>
          <a:xfrm>
            <a:off x="946404" y="914400"/>
            <a:ext cx="236830" cy="32004"/>
          </a:xfrm>
          <a:prstGeom prst="rect">
            <a:avLst/>
          </a:prstGeom>
          <a:solidFill>
            <a:srgbClr val="6DCC48"/>
          </a:solidFill>
          <a:ln/>
        </p:spPr>
      </p:sp>
      <p:sp>
        <p:nvSpPr>
          <p:cNvPr id="9" name="Shape 4"/>
          <p:cNvSpPr/>
          <p:nvPr/>
        </p:nvSpPr>
        <p:spPr>
          <a:xfrm>
            <a:off x="1179576" y="914400"/>
            <a:ext cx="236830" cy="32004"/>
          </a:xfrm>
          <a:prstGeom prst="rect">
            <a:avLst/>
          </a:prstGeom>
          <a:solidFill>
            <a:srgbClr val="3DBF6E"/>
          </a:solidFill>
          <a:ln/>
        </p:spPr>
      </p:sp>
      <p:sp>
        <p:nvSpPr>
          <p:cNvPr id="10" name="Shape 5"/>
          <p:cNvSpPr/>
          <p:nvPr/>
        </p:nvSpPr>
        <p:spPr>
          <a:xfrm>
            <a:off x="1412748" y="914400"/>
            <a:ext cx="236830" cy="32004"/>
          </a:xfrm>
          <a:prstGeom prst="rect">
            <a:avLst/>
          </a:prstGeom>
          <a:solidFill>
            <a:srgbClr val="2EC28A"/>
          </a:solidFill>
          <a:ln/>
        </p:spPr>
      </p:sp>
      <p:sp>
        <p:nvSpPr>
          <p:cNvPr id="11" name="Shape 6"/>
          <p:cNvSpPr/>
          <p:nvPr/>
        </p:nvSpPr>
        <p:spPr>
          <a:xfrm>
            <a:off x="1645920" y="914400"/>
            <a:ext cx="236830" cy="32004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2" name="Text 7"/>
          <p:cNvSpPr/>
          <p:nvPr/>
        </p:nvSpPr>
        <p:spPr>
          <a:xfrm>
            <a:off x="713232" y="1024128"/>
            <a:ext cx="8778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76"/>
              </a:lnSpc>
              <a:buNone/>
            </a:pPr>
            <a:r>
              <a:rPr lang="en-US" sz="3400" b="1" spc="-9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Salud no es que no te duela nada.</a:t>
            </a:r>
            <a:endParaRPr lang="en-US" sz="3400" dirty="0"/>
          </a:p>
        </p:txBody>
      </p:sp>
      <p:sp>
        <p:nvSpPr>
          <p:cNvPr id="13" name="Text 8"/>
          <p:cNvSpPr/>
          <p:nvPr/>
        </p:nvSpPr>
        <p:spPr>
          <a:xfrm>
            <a:off x="713232" y="1975104"/>
            <a:ext cx="6949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2D2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Salud es despertarte con energía, aguantar el día completo, dormir de corrido y traer la cabeza tranquila. Si te falta cualquiera de esas cuatro no estás enfermo, pero tampoco estás sano, y ahí es donde está casi todo el mundo: sin diagnóstico y sin fuerza.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713232" y="3401568"/>
            <a:ext cx="3383280" cy="1298448"/>
          </a:xfrm>
          <a:prstGeom prst="roundRect">
            <a:avLst>
              <a:gd name="adj" fmla="val 6338"/>
            </a:avLst>
          </a:prstGeom>
          <a:solidFill>
            <a:srgbClr val="141414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822960" y="3401568"/>
            <a:ext cx="3163824" cy="41148"/>
          </a:xfrm>
          <a:prstGeom prst="rect">
            <a:avLst/>
          </a:prstGeom>
          <a:solidFill>
            <a:srgbClr val="A8E02A"/>
          </a:solidFill>
          <a:ln/>
        </p:spPr>
      </p:sp>
      <p:sp>
        <p:nvSpPr>
          <p:cNvPr id="16" name="Text 11"/>
          <p:cNvSpPr/>
          <p:nvPr/>
        </p:nvSpPr>
        <p:spPr>
          <a:xfrm>
            <a:off x="950976" y="35844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Cuerpo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950976" y="3950208"/>
            <a:ext cx="2944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2D2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 aguantes. Fuerza, energía, buen dormir, análisis en orden.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352544" y="3401568"/>
            <a:ext cx="3383280" cy="1298448"/>
          </a:xfrm>
          <a:prstGeom prst="roundRect">
            <a:avLst>
              <a:gd name="adj" fmla="val 6338"/>
            </a:avLst>
          </a:prstGeom>
          <a:solidFill>
            <a:srgbClr val="141414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462272" y="3401568"/>
            <a:ext cx="3163824" cy="41148"/>
          </a:xfrm>
          <a:prstGeom prst="rect">
            <a:avLst/>
          </a:prstGeom>
          <a:solidFill>
            <a:srgbClr val="3DBF6E"/>
          </a:solidFill>
          <a:ln/>
        </p:spPr>
      </p:sp>
      <p:sp>
        <p:nvSpPr>
          <p:cNvPr id="20" name="Text 15"/>
          <p:cNvSpPr/>
          <p:nvPr/>
        </p:nvSpPr>
        <p:spPr>
          <a:xfrm>
            <a:off x="4590288" y="35844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Mente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4590288" y="3950208"/>
            <a:ext cx="2944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2D2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 pienses claro. Foco, memoria, calma, ganas de hacer cosas.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7991856" y="3401568"/>
            <a:ext cx="3383280" cy="1298448"/>
          </a:xfrm>
          <a:prstGeom prst="roundRect">
            <a:avLst>
              <a:gd name="adj" fmla="val 6338"/>
            </a:avLst>
          </a:prstGeom>
          <a:solidFill>
            <a:srgbClr val="141414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101584" y="3401568"/>
            <a:ext cx="3163824" cy="41148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4" name="Text 19"/>
          <p:cNvSpPr/>
          <p:nvPr/>
        </p:nvSpPr>
        <p:spPr>
          <a:xfrm>
            <a:off x="8229600" y="35844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Emoción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8229600" y="3950208"/>
            <a:ext cx="2944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2D2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 te sostengas. Saber qué sientes y que no te tire lo que pasa.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713232" y="5010912"/>
            <a:ext cx="41148" cy="457200"/>
          </a:xfrm>
          <a:prstGeom prst="roundRect">
            <a:avLst>
              <a:gd name="adj" fmla="val 44444"/>
            </a:avLst>
          </a:prstGeom>
          <a:solidFill>
            <a:srgbClr val="1ABC9C"/>
          </a:solidFill>
          <a:ln/>
        </p:spPr>
      </p:sp>
      <p:sp>
        <p:nvSpPr>
          <p:cNvPr id="27" name="Text 22"/>
          <p:cNvSpPr/>
          <p:nvPr/>
        </p:nvSpPr>
        <p:spPr>
          <a:xfrm>
            <a:off x="896112" y="4974336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Salud integral es que las tres jalen al mismo tiempo. Y las tres se pueden medir.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iel-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4008" cy="6858000"/>
          </a:xfrm>
          <a:prstGeom prst="rect">
            <a:avLst/>
          </a:prstGeom>
        </p:spPr>
      </p:pic>
      <p:pic>
        <p:nvPicPr>
          <p:cNvPr id="3" name="Image 1" descr="molecul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237744"/>
            <a:ext cx="274320" cy="24505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21945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ATP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713232" y="658368"/>
            <a:ext cx="10835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1ABC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QUÉ ATP Y POR QUÉ AHORA</a:t>
            </a:r>
            <a:endParaRPr lang="en-US" sz="1150" dirty="0"/>
          </a:p>
        </p:txBody>
      </p:sp>
      <p:sp>
        <p:nvSpPr>
          <p:cNvPr id="6" name="Shape 2"/>
          <p:cNvSpPr/>
          <p:nvPr/>
        </p:nvSpPr>
        <p:spPr>
          <a:xfrm>
            <a:off x="713232" y="914400"/>
            <a:ext cx="373990" cy="32004"/>
          </a:xfrm>
          <a:prstGeom prst="rect">
            <a:avLst/>
          </a:prstGeom>
          <a:solidFill>
            <a:srgbClr val="A8E02A"/>
          </a:solidFill>
          <a:ln/>
        </p:spPr>
      </p:sp>
      <p:sp>
        <p:nvSpPr>
          <p:cNvPr id="7" name="Shape 3"/>
          <p:cNvSpPr/>
          <p:nvPr/>
        </p:nvSpPr>
        <p:spPr>
          <a:xfrm>
            <a:off x="1083564" y="914400"/>
            <a:ext cx="373990" cy="32004"/>
          </a:xfrm>
          <a:prstGeom prst="rect">
            <a:avLst/>
          </a:prstGeom>
          <a:solidFill>
            <a:srgbClr val="6DCC48"/>
          </a:solidFill>
          <a:ln/>
        </p:spPr>
      </p:sp>
      <p:sp>
        <p:nvSpPr>
          <p:cNvPr id="8" name="Shape 4"/>
          <p:cNvSpPr/>
          <p:nvPr/>
        </p:nvSpPr>
        <p:spPr>
          <a:xfrm>
            <a:off x="1453896" y="914400"/>
            <a:ext cx="373990" cy="32004"/>
          </a:xfrm>
          <a:prstGeom prst="rect">
            <a:avLst/>
          </a:prstGeom>
          <a:solidFill>
            <a:srgbClr val="3DBF6E"/>
          </a:solidFill>
          <a:ln/>
        </p:spPr>
      </p:sp>
      <p:sp>
        <p:nvSpPr>
          <p:cNvPr id="9" name="Shape 5"/>
          <p:cNvSpPr/>
          <p:nvPr/>
        </p:nvSpPr>
        <p:spPr>
          <a:xfrm>
            <a:off x="1824228" y="914400"/>
            <a:ext cx="373990" cy="32004"/>
          </a:xfrm>
          <a:prstGeom prst="rect">
            <a:avLst/>
          </a:prstGeom>
          <a:solidFill>
            <a:srgbClr val="2EC28A"/>
          </a:solidFill>
          <a:ln/>
        </p:spPr>
      </p:sp>
      <p:sp>
        <p:nvSpPr>
          <p:cNvPr id="10" name="Shape 6"/>
          <p:cNvSpPr/>
          <p:nvPr/>
        </p:nvSpPr>
        <p:spPr>
          <a:xfrm>
            <a:off x="2194560" y="914400"/>
            <a:ext cx="373990" cy="32004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1" name="Text 7"/>
          <p:cNvSpPr/>
          <p:nvPr/>
        </p:nvSpPr>
        <p:spPr>
          <a:xfrm>
            <a:off x="713232" y="1024128"/>
            <a:ext cx="8778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6"/>
              </a:lnSpc>
              <a:buNone/>
            </a:pPr>
            <a:r>
              <a:rPr lang="en-US" sz="2900" b="1" spc="-9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cuidado de la salud subió cinco escalones. El quinto apenas se abrió.</a:t>
            </a:r>
            <a:endParaRPr lang="en-US" sz="2900" dirty="0"/>
          </a:p>
        </p:txBody>
      </p:sp>
      <p:sp>
        <p:nvSpPr>
          <p:cNvPr id="12" name="Text 8"/>
          <p:cNvSpPr/>
          <p:nvPr/>
        </p:nvSpPr>
        <p:spPr>
          <a:xfrm>
            <a:off x="713232" y="2084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 QUE VIENE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044952" y="2189988"/>
            <a:ext cx="8494776" cy="914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4" name="Shape 10"/>
          <p:cNvSpPr/>
          <p:nvPr/>
        </p:nvSpPr>
        <p:spPr>
          <a:xfrm>
            <a:off x="5733288" y="2377440"/>
            <a:ext cx="5806440" cy="402336"/>
          </a:xfrm>
          <a:prstGeom prst="roundRect">
            <a:avLst>
              <a:gd name="adj" fmla="val 13636"/>
            </a:avLst>
          </a:prstGeom>
          <a:solidFill>
            <a:srgbClr val="000000"/>
          </a:solidFill>
          <a:ln w="12700">
            <a:solidFill>
              <a:srgbClr val="4A4A4A"/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>
            <a:off x="5769864" y="2423160"/>
            <a:ext cx="77724" cy="310896"/>
          </a:xfrm>
          <a:prstGeom prst="roundRect">
            <a:avLst>
              <a:gd name="adj" fmla="val 35294"/>
            </a:avLst>
          </a:prstGeom>
          <a:solidFill>
            <a:srgbClr val="4A4A4A"/>
          </a:solidFill>
          <a:ln/>
        </p:spPr>
      </p:sp>
      <p:sp>
        <p:nvSpPr>
          <p:cNvPr id="16" name="Text 12"/>
          <p:cNvSpPr/>
          <p:nvPr/>
        </p:nvSpPr>
        <p:spPr>
          <a:xfrm>
            <a:off x="5934456" y="237744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428232" y="23774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40" kern="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Hibridación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8732520" y="2359152"/>
            <a:ext cx="2679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Cuerpo y máquina juntos.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276088" y="2825496"/>
            <a:ext cx="6263640" cy="402336"/>
          </a:xfrm>
          <a:prstGeom prst="roundRect">
            <a:avLst>
              <a:gd name="adj" fmla="val 13636"/>
            </a:avLst>
          </a:prstGeom>
          <a:solidFill>
            <a:srgbClr val="000000"/>
          </a:solidFill>
          <a:ln w="12700">
            <a:solidFill>
              <a:srgbClr val="4A4A4A"/>
            </a:solidFill>
            <a:prstDash val="dash"/>
          </a:ln>
        </p:spPr>
      </p:sp>
      <p:sp>
        <p:nvSpPr>
          <p:cNvPr id="20" name="Shape 16"/>
          <p:cNvSpPr/>
          <p:nvPr/>
        </p:nvSpPr>
        <p:spPr>
          <a:xfrm>
            <a:off x="5312664" y="2871216"/>
            <a:ext cx="77724" cy="310896"/>
          </a:xfrm>
          <a:prstGeom prst="roundRect">
            <a:avLst>
              <a:gd name="adj" fmla="val 35294"/>
            </a:avLst>
          </a:prstGeom>
          <a:solidFill>
            <a:srgbClr val="4A4A4A"/>
          </a:solidFill>
          <a:ln/>
        </p:spPr>
      </p:sp>
      <p:sp>
        <p:nvSpPr>
          <p:cNvPr id="21" name="Text 17"/>
          <p:cNvSpPr/>
          <p:nvPr/>
        </p:nvSpPr>
        <p:spPr>
          <a:xfrm>
            <a:off x="5477256" y="282549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5.1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971032" y="282549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40" kern="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Big data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8275320" y="2807208"/>
            <a:ext cx="3136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ciencia sin esperar diez años.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713232" y="334670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 QUE YA SE PUEDE USAR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3044952" y="3451860"/>
            <a:ext cx="8494776" cy="914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6" name="Shape 22"/>
          <p:cNvSpPr/>
          <p:nvPr/>
        </p:nvSpPr>
        <p:spPr>
          <a:xfrm>
            <a:off x="4864608" y="3639312"/>
            <a:ext cx="6675120" cy="402336"/>
          </a:xfrm>
          <a:prstGeom prst="roundRect">
            <a:avLst>
              <a:gd name="adj" fmla="val 13636"/>
            </a:avLst>
          </a:prstGeom>
          <a:solidFill>
            <a:srgbClr val="141414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901184" y="3685032"/>
            <a:ext cx="77724" cy="310896"/>
          </a:xfrm>
          <a:prstGeom prst="roundRect">
            <a:avLst>
              <a:gd name="adj" fmla="val 35294"/>
            </a:avLst>
          </a:prstGeom>
          <a:solidFill>
            <a:srgbClr val="1ABC9C"/>
          </a:solidFill>
          <a:ln/>
        </p:spPr>
      </p:sp>
      <p:sp>
        <p:nvSpPr>
          <p:cNvPr id="28" name="Text 24"/>
          <p:cNvSpPr/>
          <p:nvPr/>
        </p:nvSpPr>
        <p:spPr>
          <a:xfrm>
            <a:off x="5065776" y="3639312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D2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559552" y="36393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4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Inteligencia artificial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7863840" y="3621024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2D2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Algo que lee todo eso por ti, todos los días.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4315968" y="4082796"/>
            <a:ext cx="7223760" cy="402336"/>
          </a:xfrm>
          <a:prstGeom prst="roundRect">
            <a:avLst>
              <a:gd name="adj" fmla="val 13636"/>
            </a:avLst>
          </a:prstGeom>
          <a:solidFill>
            <a:srgbClr val="141414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352544" y="4128516"/>
            <a:ext cx="77724" cy="310896"/>
          </a:xfrm>
          <a:prstGeom prst="roundRect">
            <a:avLst>
              <a:gd name="adj" fmla="val 35294"/>
            </a:avLst>
          </a:prstGeom>
          <a:solidFill>
            <a:srgbClr val="2EC28A"/>
          </a:solidFill>
          <a:ln/>
        </p:spPr>
      </p:sp>
      <p:sp>
        <p:nvSpPr>
          <p:cNvPr id="33" name="Text 29"/>
          <p:cNvSpPr/>
          <p:nvPr/>
        </p:nvSpPr>
        <p:spPr>
          <a:xfrm>
            <a:off x="4517136" y="408279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D2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5010912" y="408279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4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Integración</a:t>
            </a:r>
            <a:endParaRPr lang="en-US" sz="1400" dirty="0"/>
          </a:p>
        </p:txBody>
      </p:sp>
      <p:sp>
        <p:nvSpPr>
          <p:cNvPr id="35" name="Text 31"/>
          <p:cNvSpPr/>
          <p:nvPr/>
        </p:nvSpPr>
        <p:spPr>
          <a:xfrm>
            <a:off x="7315200" y="4064508"/>
            <a:ext cx="4096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2D2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Diez estudios, una conclusión.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>
            <a:off x="3767328" y="4526280"/>
            <a:ext cx="7772400" cy="402336"/>
          </a:xfrm>
          <a:prstGeom prst="roundRect">
            <a:avLst>
              <a:gd name="adj" fmla="val 13636"/>
            </a:avLst>
          </a:prstGeom>
          <a:solidFill>
            <a:srgbClr val="141414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3803904" y="4572000"/>
            <a:ext cx="77724" cy="310896"/>
          </a:xfrm>
          <a:prstGeom prst="roundRect">
            <a:avLst>
              <a:gd name="adj" fmla="val 35294"/>
            </a:avLst>
          </a:prstGeom>
          <a:solidFill>
            <a:srgbClr val="3DBF6E"/>
          </a:solidFill>
          <a:ln/>
        </p:spPr>
      </p:sp>
      <p:sp>
        <p:nvSpPr>
          <p:cNvPr id="38" name="Text 34"/>
          <p:cNvSpPr/>
          <p:nvPr/>
        </p:nvSpPr>
        <p:spPr>
          <a:xfrm>
            <a:off x="3968496" y="452628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D2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4462272" y="452628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4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Medición</a:t>
            </a:r>
            <a:endParaRPr lang="en-US" sz="1400" dirty="0"/>
          </a:p>
        </p:txBody>
      </p:sp>
      <p:sp>
        <p:nvSpPr>
          <p:cNvPr id="40" name="Text 36"/>
          <p:cNvSpPr/>
          <p:nvPr/>
        </p:nvSpPr>
        <p:spPr>
          <a:xfrm>
            <a:off x="6766560" y="4507992"/>
            <a:ext cx="4645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2D2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Medirte de verdad. Sangre, sueño, glucosa, peso.</a:t>
            </a:r>
            <a:endParaRPr lang="en-US" sz="1150" dirty="0"/>
          </a:p>
        </p:txBody>
      </p:sp>
      <p:sp>
        <p:nvSpPr>
          <p:cNvPr id="41" name="Shape 37"/>
          <p:cNvSpPr/>
          <p:nvPr/>
        </p:nvSpPr>
        <p:spPr>
          <a:xfrm>
            <a:off x="3218688" y="4969764"/>
            <a:ext cx="8321040" cy="402336"/>
          </a:xfrm>
          <a:prstGeom prst="roundRect">
            <a:avLst>
              <a:gd name="adj" fmla="val 13636"/>
            </a:avLst>
          </a:prstGeom>
          <a:solidFill>
            <a:srgbClr val="141414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3255264" y="5015484"/>
            <a:ext cx="77724" cy="310896"/>
          </a:xfrm>
          <a:prstGeom prst="roundRect">
            <a:avLst>
              <a:gd name="adj" fmla="val 35294"/>
            </a:avLst>
          </a:prstGeom>
          <a:solidFill>
            <a:srgbClr val="6DCC48"/>
          </a:solidFill>
          <a:ln/>
        </p:spPr>
      </p:sp>
      <p:sp>
        <p:nvSpPr>
          <p:cNvPr id="43" name="Text 39"/>
          <p:cNvSpPr/>
          <p:nvPr/>
        </p:nvSpPr>
        <p:spPr>
          <a:xfrm>
            <a:off x="3419856" y="4969764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D2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44" name="Text 40"/>
          <p:cNvSpPr/>
          <p:nvPr/>
        </p:nvSpPr>
        <p:spPr>
          <a:xfrm>
            <a:off x="3913632" y="496976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4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Ciencia</a:t>
            </a:r>
            <a:endParaRPr lang="en-US" sz="1400" dirty="0"/>
          </a:p>
        </p:txBody>
      </p:sp>
      <p:sp>
        <p:nvSpPr>
          <p:cNvPr id="45" name="Text 41"/>
          <p:cNvSpPr/>
          <p:nvPr/>
        </p:nvSpPr>
        <p:spPr>
          <a:xfrm>
            <a:off x="6217920" y="4951476"/>
            <a:ext cx="5193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2D2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 que ya se comprobó, para no descubrirlo a golpes.</a:t>
            </a:r>
            <a:endParaRPr lang="en-US" sz="1150" dirty="0"/>
          </a:p>
        </p:txBody>
      </p:sp>
      <p:sp>
        <p:nvSpPr>
          <p:cNvPr id="46" name="Shape 42"/>
          <p:cNvSpPr/>
          <p:nvPr/>
        </p:nvSpPr>
        <p:spPr>
          <a:xfrm>
            <a:off x="2670048" y="5413248"/>
            <a:ext cx="8869680" cy="402336"/>
          </a:xfrm>
          <a:prstGeom prst="roundRect">
            <a:avLst>
              <a:gd name="adj" fmla="val 13636"/>
            </a:avLst>
          </a:prstGeom>
          <a:solidFill>
            <a:srgbClr val="141414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2706624" y="5458968"/>
            <a:ext cx="77724" cy="310896"/>
          </a:xfrm>
          <a:prstGeom prst="roundRect">
            <a:avLst>
              <a:gd name="adj" fmla="val 35294"/>
            </a:avLst>
          </a:prstGeom>
          <a:solidFill>
            <a:srgbClr val="A8E02A"/>
          </a:solidFill>
          <a:ln/>
        </p:spPr>
      </p:sp>
      <p:sp>
        <p:nvSpPr>
          <p:cNvPr id="48" name="Text 44"/>
          <p:cNvSpPr/>
          <p:nvPr/>
        </p:nvSpPr>
        <p:spPr>
          <a:xfrm>
            <a:off x="2871216" y="5413248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D2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49" name="Text 45"/>
          <p:cNvSpPr/>
          <p:nvPr/>
        </p:nvSpPr>
        <p:spPr>
          <a:xfrm>
            <a:off x="3364992" y="541324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4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Conocerte</a:t>
            </a:r>
            <a:endParaRPr lang="en-US" sz="1400" dirty="0"/>
          </a:p>
        </p:txBody>
      </p:sp>
      <p:sp>
        <p:nvSpPr>
          <p:cNvPr id="50" name="Text 46"/>
          <p:cNvSpPr/>
          <p:nvPr/>
        </p:nvSpPr>
        <p:spPr>
          <a:xfrm>
            <a:off x="5669280" y="5394960"/>
            <a:ext cx="5742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2D2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Aprender a leerte, porque nadie más trae tus sensores.</a:t>
            </a:r>
            <a:endParaRPr lang="en-US" sz="1150" dirty="0"/>
          </a:p>
        </p:txBody>
      </p:sp>
      <p:sp>
        <p:nvSpPr>
          <p:cNvPr id="51" name="Shape 47"/>
          <p:cNvSpPr/>
          <p:nvPr/>
        </p:nvSpPr>
        <p:spPr>
          <a:xfrm>
            <a:off x="713232" y="5925312"/>
            <a:ext cx="41148" cy="502920"/>
          </a:xfrm>
          <a:prstGeom prst="roundRect">
            <a:avLst>
              <a:gd name="adj" fmla="val 44444"/>
            </a:avLst>
          </a:prstGeom>
          <a:solidFill>
            <a:srgbClr val="1ABC9C"/>
          </a:solidFill>
          <a:ln/>
        </p:spPr>
      </p:sp>
      <p:sp>
        <p:nvSpPr>
          <p:cNvPr id="52" name="Text 48"/>
          <p:cNvSpPr/>
          <p:nvPr/>
        </p:nvSpPr>
        <p:spPr>
          <a:xfrm>
            <a:off x="896112" y="5888736"/>
            <a:ext cx="8503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escalón se para en el de abajo, y hasta hoy nadie había juntado los cinco en un solo lugar. Ahora caben en la bolsa de cualquiera.</a:t>
            </a:r>
            <a:endParaRPr lang="en-US" sz="1450" dirty="0"/>
          </a:p>
        </p:txBody>
      </p:sp>
      <p:sp>
        <p:nvSpPr>
          <p:cNvPr id="53" name="Text 49"/>
          <p:cNvSpPr/>
          <p:nvPr/>
        </p:nvSpPr>
        <p:spPr>
          <a:xfrm>
            <a:off x="713232" y="651052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8A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 dos de arriba son predicción de los fundadores. No son calendario.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BE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iel-cla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4008" cy="6858000"/>
          </a:xfrm>
          <a:prstGeom prst="rect">
            <a:avLst/>
          </a:prstGeom>
        </p:spPr>
      </p:pic>
      <p:pic>
        <p:nvPicPr>
          <p:cNvPr id="3" name="Image 1" descr="molecul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237744"/>
            <a:ext cx="274320" cy="24505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21945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0F15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ATP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713232" y="658368"/>
            <a:ext cx="10835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86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QUÉ ES ATP</a:t>
            </a:r>
            <a:endParaRPr lang="en-US" sz="1150" dirty="0"/>
          </a:p>
        </p:txBody>
      </p:sp>
      <p:sp>
        <p:nvSpPr>
          <p:cNvPr id="6" name="Shape 2"/>
          <p:cNvSpPr/>
          <p:nvPr/>
        </p:nvSpPr>
        <p:spPr>
          <a:xfrm>
            <a:off x="713232" y="914400"/>
            <a:ext cx="140818" cy="32004"/>
          </a:xfrm>
          <a:prstGeom prst="rect">
            <a:avLst/>
          </a:prstGeom>
          <a:solidFill>
            <a:srgbClr val="4E8C0F"/>
          </a:solidFill>
          <a:ln/>
        </p:spPr>
      </p:sp>
      <p:sp>
        <p:nvSpPr>
          <p:cNvPr id="7" name="Shape 3"/>
          <p:cNvSpPr/>
          <p:nvPr/>
        </p:nvSpPr>
        <p:spPr>
          <a:xfrm>
            <a:off x="850392" y="914400"/>
            <a:ext cx="140818" cy="32004"/>
          </a:xfrm>
          <a:prstGeom prst="rect">
            <a:avLst/>
          </a:prstGeom>
          <a:solidFill>
            <a:srgbClr val="3A8028"/>
          </a:solidFill>
          <a:ln/>
        </p:spPr>
      </p:sp>
      <p:sp>
        <p:nvSpPr>
          <p:cNvPr id="8" name="Shape 4"/>
          <p:cNvSpPr/>
          <p:nvPr/>
        </p:nvSpPr>
        <p:spPr>
          <a:xfrm>
            <a:off x="987552" y="914400"/>
            <a:ext cx="140818" cy="32004"/>
          </a:xfrm>
          <a:prstGeom prst="rect">
            <a:avLst/>
          </a:prstGeom>
          <a:solidFill>
            <a:srgbClr val="1E7846"/>
          </a:solidFill>
          <a:ln/>
        </p:spPr>
      </p:sp>
      <p:sp>
        <p:nvSpPr>
          <p:cNvPr id="9" name="Shape 5"/>
          <p:cNvSpPr/>
          <p:nvPr/>
        </p:nvSpPr>
        <p:spPr>
          <a:xfrm>
            <a:off x="1124712" y="914400"/>
            <a:ext cx="140818" cy="32004"/>
          </a:xfrm>
          <a:prstGeom prst="rect">
            <a:avLst/>
          </a:prstGeom>
          <a:solidFill>
            <a:srgbClr val="107458"/>
          </a:solidFill>
          <a:ln/>
        </p:spPr>
      </p:sp>
      <p:sp>
        <p:nvSpPr>
          <p:cNvPr id="10" name="Shape 6"/>
          <p:cNvSpPr/>
          <p:nvPr/>
        </p:nvSpPr>
        <p:spPr>
          <a:xfrm>
            <a:off x="1261872" y="914400"/>
            <a:ext cx="140818" cy="32004"/>
          </a:xfrm>
          <a:prstGeom prst="rect">
            <a:avLst/>
          </a:prstGeom>
          <a:solidFill>
            <a:srgbClr val="086A5E"/>
          </a:solidFill>
          <a:ln/>
        </p:spPr>
      </p:sp>
      <p:sp>
        <p:nvSpPr>
          <p:cNvPr id="11" name="Text 7"/>
          <p:cNvSpPr/>
          <p:nvPr/>
        </p:nvSpPr>
        <p:spPr>
          <a:xfrm>
            <a:off x="713232" y="1024128"/>
            <a:ext cx="8778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6"/>
              </a:lnSpc>
              <a:buNone/>
            </a:pPr>
            <a:r>
              <a:rPr lang="en-US" sz="2900" b="1" spc="-90" kern="0" dirty="0">
                <a:solidFill>
                  <a:srgbClr val="0F15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 cinco escalones, juntos, en una sola plataforma.</a:t>
            </a:r>
            <a:endParaRPr lang="en-US" sz="2900" dirty="0"/>
          </a:p>
        </p:txBody>
      </p:sp>
      <p:sp>
        <p:nvSpPr>
          <p:cNvPr id="12" name="Shape 8"/>
          <p:cNvSpPr/>
          <p:nvPr/>
        </p:nvSpPr>
        <p:spPr>
          <a:xfrm>
            <a:off x="5532120" y="1938528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EFF3F5"/>
          </a:solidFill>
          <a:ln w="19050">
            <a:solidFill>
              <a:srgbClr val="086A5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532120" y="19385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5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ATP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117336" y="2322576"/>
            <a:ext cx="13716" cy="219456"/>
          </a:xfrm>
          <a:prstGeom prst="rect">
            <a:avLst/>
          </a:prstGeom>
          <a:solidFill>
            <a:srgbClr val="2EC28A"/>
          </a:solidFill>
          <a:ln/>
        </p:spPr>
      </p:sp>
      <p:sp>
        <p:nvSpPr>
          <p:cNvPr id="15" name="Shape 11"/>
          <p:cNvSpPr/>
          <p:nvPr/>
        </p:nvSpPr>
        <p:spPr>
          <a:xfrm>
            <a:off x="3259836" y="2542032"/>
            <a:ext cx="5733288" cy="13716"/>
          </a:xfrm>
          <a:prstGeom prst="rect">
            <a:avLst/>
          </a:prstGeom>
          <a:solidFill>
            <a:srgbClr val="2EC28A"/>
          </a:solidFill>
          <a:ln/>
        </p:spPr>
      </p:sp>
      <p:sp>
        <p:nvSpPr>
          <p:cNvPr id="16" name="Shape 12"/>
          <p:cNvSpPr/>
          <p:nvPr/>
        </p:nvSpPr>
        <p:spPr>
          <a:xfrm>
            <a:off x="3259836" y="2542032"/>
            <a:ext cx="13716" cy="201168"/>
          </a:xfrm>
          <a:prstGeom prst="rect">
            <a:avLst/>
          </a:prstGeom>
          <a:solidFill>
            <a:srgbClr val="2EC28A"/>
          </a:solidFill>
          <a:ln/>
        </p:spPr>
      </p:sp>
      <p:sp>
        <p:nvSpPr>
          <p:cNvPr id="17" name="Shape 13"/>
          <p:cNvSpPr/>
          <p:nvPr/>
        </p:nvSpPr>
        <p:spPr>
          <a:xfrm>
            <a:off x="8993124" y="2542032"/>
            <a:ext cx="13716" cy="201168"/>
          </a:xfrm>
          <a:prstGeom prst="rect">
            <a:avLst/>
          </a:prstGeom>
          <a:solidFill>
            <a:srgbClr val="2EC28A"/>
          </a:solidFill>
          <a:ln/>
        </p:spPr>
      </p:sp>
      <p:sp>
        <p:nvSpPr>
          <p:cNvPr id="18" name="Shape 14"/>
          <p:cNvSpPr/>
          <p:nvPr/>
        </p:nvSpPr>
        <p:spPr>
          <a:xfrm>
            <a:off x="713232" y="2743200"/>
            <a:ext cx="5102352" cy="384048"/>
          </a:xfrm>
          <a:prstGeom prst="roundRect">
            <a:avLst>
              <a:gd name="adj" fmla="val 16667"/>
            </a:avLst>
          </a:prstGeom>
          <a:solidFill>
            <a:srgbClr val="EFF3F5"/>
          </a:solidFill>
          <a:ln w="9525">
            <a:solidFill>
              <a:srgbClr val="CBD5D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13232" y="2743200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5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aplicación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713232" y="3246120"/>
            <a:ext cx="5102352" cy="365760"/>
          </a:xfrm>
          <a:prstGeom prst="roundRect">
            <a:avLst>
              <a:gd name="adj" fmla="val 12500"/>
            </a:avLst>
          </a:prstGeom>
          <a:solidFill>
            <a:srgbClr val="EFF3F5"/>
          </a:solidFill>
          <a:ln w="9525">
            <a:solidFill>
              <a:srgbClr val="CBD5D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45236" y="3291840"/>
            <a:ext cx="68580" cy="274320"/>
          </a:xfrm>
          <a:prstGeom prst="roundRect">
            <a:avLst>
              <a:gd name="adj" fmla="val 40000"/>
            </a:avLst>
          </a:prstGeom>
          <a:solidFill>
            <a:srgbClr val="4E8C0F"/>
          </a:solidFill>
          <a:ln/>
        </p:spPr>
      </p:sp>
      <p:sp>
        <p:nvSpPr>
          <p:cNvPr id="22" name="Text 18"/>
          <p:cNvSpPr/>
          <p:nvPr/>
        </p:nvSpPr>
        <p:spPr>
          <a:xfrm>
            <a:off x="896112" y="3246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5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Emociones  </a:t>
            </a:r>
            <a:pPr indent="0" marL="0">
              <a:buNone/>
            </a:pPr>
            <a:r>
              <a:rPr lang="en-US" sz="1150" dirty="0">
                <a:solidFill>
                  <a:srgbClr val="4A55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ponerle nombre a lo que sientes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713232" y="3680460"/>
            <a:ext cx="5102352" cy="365760"/>
          </a:xfrm>
          <a:prstGeom prst="roundRect">
            <a:avLst>
              <a:gd name="adj" fmla="val 12500"/>
            </a:avLst>
          </a:prstGeom>
          <a:solidFill>
            <a:srgbClr val="EFF3F5"/>
          </a:solidFill>
          <a:ln w="9525">
            <a:solidFill>
              <a:srgbClr val="CBD5DC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45236" y="3726180"/>
            <a:ext cx="68580" cy="274320"/>
          </a:xfrm>
          <a:prstGeom prst="roundRect">
            <a:avLst>
              <a:gd name="adj" fmla="val 40000"/>
            </a:avLst>
          </a:prstGeom>
          <a:solidFill>
            <a:srgbClr val="3A8028"/>
          </a:solidFill>
          <a:ln/>
        </p:spPr>
      </p:sp>
      <p:sp>
        <p:nvSpPr>
          <p:cNvPr id="25" name="Text 21"/>
          <p:cNvSpPr/>
          <p:nvPr/>
        </p:nvSpPr>
        <p:spPr>
          <a:xfrm>
            <a:off x="896112" y="36804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5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Fitness  </a:t>
            </a:r>
            <a:pPr indent="0" marL="0">
              <a:buNone/>
            </a:pPr>
            <a:r>
              <a:rPr lang="en-US" sz="1150" dirty="0">
                <a:solidFill>
                  <a:srgbClr val="4A55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entrenar, cardio, fuerza, medidas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713232" y="4114800"/>
            <a:ext cx="5102352" cy="365760"/>
          </a:xfrm>
          <a:prstGeom prst="roundRect">
            <a:avLst>
              <a:gd name="adj" fmla="val 12500"/>
            </a:avLst>
          </a:prstGeom>
          <a:solidFill>
            <a:srgbClr val="EFF3F5"/>
          </a:solidFill>
          <a:ln w="9525">
            <a:solidFill>
              <a:srgbClr val="CBD5DC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45236" y="4160520"/>
            <a:ext cx="68580" cy="274320"/>
          </a:xfrm>
          <a:prstGeom prst="roundRect">
            <a:avLst>
              <a:gd name="adj" fmla="val 40000"/>
            </a:avLst>
          </a:prstGeom>
          <a:solidFill>
            <a:srgbClr val="1E7846"/>
          </a:solidFill>
          <a:ln/>
        </p:spPr>
      </p:sp>
      <p:sp>
        <p:nvSpPr>
          <p:cNvPr id="28" name="Text 24"/>
          <p:cNvSpPr/>
          <p:nvPr/>
        </p:nvSpPr>
        <p:spPr>
          <a:xfrm>
            <a:off x="896112" y="4114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5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Nutrición  </a:t>
            </a:r>
            <a:pPr indent="0" marL="0">
              <a:buNone/>
            </a:pPr>
            <a:r>
              <a:rPr lang="en-US" sz="1150" dirty="0">
                <a:solidFill>
                  <a:srgbClr val="4A55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comida, agua, ayuno, suplementos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713232" y="4549140"/>
            <a:ext cx="5102352" cy="365760"/>
          </a:xfrm>
          <a:prstGeom prst="roundRect">
            <a:avLst>
              <a:gd name="adj" fmla="val 12500"/>
            </a:avLst>
          </a:prstGeom>
          <a:solidFill>
            <a:srgbClr val="EFF3F5"/>
          </a:solidFill>
          <a:ln w="9525">
            <a:solidFill>
              <a:srgbClr val="CBD5DC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45236" y="4594860"/>
            <a:ext cx="68580" cy="274320"/>
          </a:xfrm>
          <a:prstGeom prst="roundRect">
            <a:avLst>
              <a:gd name="adj" fmla="val 40000"/>
            </a:avLst>
          </a:prstGeom>
          <a:solidFill>
            <a:srgbClr val="107458"/>
          </a:solidFill>
          <a:ln/>
        </p:spPr>
      </p:sp>
      <p:sp>
        <p:nvSpPr>
          <p:cNvPr id="31" name="Text 27"/>
          <p:cNvSpPr/>
          <p:nvPr/>
        </p:nvSpPr>
        <p:spPr>
          <a:xfrm>
            <a:off x="896112" y="45491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5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Laboratorios  </a:t>
            </a:r>
            <a:pPr indent="0" marL="0">
              <a:buNone/>
            </a:pPr>
            <a:r>
              <a:rPr lang="en-US" sz="1150" dirty="0">
                <a:solidFill>
                  <a:srgbClr val="4A55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subes el PDF y la app lo acomoda sola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713232" y="4983480"/>
            <a:ext cx="5102352" cy="365760"/>
          </a:xfrm>
          <a:prstGeom prst="roundRect">
            <a:avLst>
              <a:gd name="adj" fmla="val 12500"/>
            </a:avLst>
          </a:prstGeom>
          <a:solidFill>
            <a:srgbClr val="EFF3F5"/>
          </a:solidFill>
          <a:ln w="9525">
            <a:solidFill>
              <a:srgbClr val="CBD5DC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745236" y="5029200"/>
            <a:ext cx="68580" cy="274320"/>
          </a:xfrm>
          <a:prstGeom prst="roundRect">
            <a:avLst>
              <a:gd name="adj" fmla="val 40000"/>
            </a:avLst>
          </a:prstGeom>
          <a:solidFill>
            <a:srgbClr val="086A5E"/>
          </a:solidFill>
          <a:ln/>
        </p:spPr>
      </p:sp>
      <p:sp>
        <p:nvSpPr>
          <p:cNvPr id="34" name="Text 30"/>
          <p:cNvSpPr/>
          <p:nvPr/>
        </p:nvSpPr>
        <p:spPr>
          <a:xfrm>
            <a:off x="896112" y="4983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5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Historia clínica  </a:t>
            </a:r>
            <a:pPr indent="0" marL="0">
              <a:buNone/>
            </a:pPr>
            <a:r>
              <a:rPr lang="en-US" sz="1150" dirty="0">
                <a:solidFill>
                  <a:srgbClr val="4A55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síntomas, padecimientos y tu expediente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6446520" y="2743200"/>
            <a:ext cx="5102352" cy="384048"/>
          </a:xfrm>
          <a:prstGeom prst="roundRect">
            <a:avLst>
              <a:gd name="adj" fmla="val 16667"/>
            </a:avLst>
          </a:prstGeom>
          <a:solidFill>
            <a:srgbClr val="EFF3F5"/>
          </a:solidFill>
          <a:ln w="9525">
            <a:solidFill>
              <a:srgbClr val="CBD5DC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446520" y="2743200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5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comunidad</a:t>
            </a:r>
            <a:endParaRPr lang="en-US" sz="1400" dirty="0"/>
          </a:p>
        </p:txBody>
      </p:sp>
      <p:sp>
        <p:nvSpPr>
          <p:cNvPr id="37" name="Shape 33"/>
          <p:cNvSpPr/>
          <p:nvPr/>
        </p:nvSpPr>
        <p:spPr>
          <a:xfrm>
            <a:off x="6446520" y="3246120"/>
            <a:ext cx="5102352" cy="365760"/>
          </a:xfrm>
          <a:prstGeom prst="roundRect">
            <a:avLst>
              <a:gd name="adj" fmla="val 12500"/>
            </a:avLst>
          </a:prstGeom>
          <a:solidFill>
            <a:srgbClr val="EFF3F5"/>
          </a:solidFill>
          <a:ln w="9525">
            <a:solidFill>
              <a:srgbClr val="CBD5DC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6478524" y="3291840"/>
            <a:ext cx="68580" cy="274320"/>
          </a:xfrm>
          <a:prstGeom prst="roundRect">
            <a:avLst>
              <a:gd name="adj" fmla="val 40000"/>
            </a:avLst>
          </a:prstGeom>
          <a:solidFill>
            <a:srgbClr val="3A8028"/>
          </a:solidFill>
          <a:ln/>
        </p:spPr>
      </p:sp>
      <p:sp>
        <p:nvSpPr>
          <p:cNvPr id="39" name="Text 35"/>
          <p:cNvSpPr/>
          <p:nvPr/>
        </p:nvSpPr>
        <p:spPr>
          <a:xfrm>
            <a:off x="6629400" y="3246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5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Gente como tú  </a:t>
            </a:r>
            <a:pPr indent="0" marL="0">
              <a:buNone/>
            </a:pPr>
            <a:r>
              <a:rPr lang="en-US" sz="1150" dirty="0">
                <a:solidFill>
                  <a:srgbClr val="4A55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ranking y amigos, y la plática en Skool</a:t>
            </a:r>
            <a:endParaRPr lang="en-US" sz="1150" dirty="0"/>
          </a:p>
        </p:txBody>
      </p:sp>
      <p:sp>
        <p:nvSpPr>
          <p:cNvPr id="40" name="Shape 36"/>
          <p:cNvSpPr/>
          <p:nvPr/>
        </p:nvSpPr>
        <p:spPr>
          <a:xfrm>
            <a:off x="6446520" y="3680460"/>
            <a:ext cx="5102352" cy="365760"/>
          </a:xfrm>
          <a:prstGeom prst="roundRect">
            <a:avLst>
              <a:gd name="adj" fmla="val 12500"/>
            </a:avLst>
          </a:prstGeom>
          <a:solidFill>
            <a:srgbClr val="EFF3F5"/>
          </a:solidFill>
          <a:ln w="9525">
            <a:solidFill>
              <a:srgbClr val="CBD5DC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6478524" y="3726180"/>
            <a:ext cx="68580" cy="274320"/>
          </a:xfrm>
          <a:prstGeom prst="roundRect">
            <a:avLst>
              <a:gd name="adj" fmla="val 40000"/>
            </a:avLst>
          </a:prstGeom>
          <a:solidFill>
            <a:srgbClr val="107458"/>
          </a:solidFill>
          <a:ln/>
        </p:spPr>
      </p:sp>
      <p:sp>
        <p:nvSpPr>
          <p:cNvPr id="42" name="Text 38"/>
          <p:cNvSpPr/>
          <p:nvPr/>
        </p:nvSpPr>
        <p:spPr>
          <a:xfrm>
            <a:off x="6629400" y="36804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5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Mentorías en vivo  </a:t>
            </a:r>
            <a:pPr indent="0" marL="0">
              <a:buNone/>
            </a:pPr>
            <a:r>
              <a:rPr lang="en-US" sz="1150" dirty="0">
                <a:solidFill>
                  <a:srgbClr val="4A55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semana, con profesionales de salud</a:t>
            </a:r>
            <a:endParaRPr lang="en-US" sz="1150" dirty="0"/>
          </a:p>
        </p:txBody>
      </p:sp>
      <p:sp>
        <p:nvSpPr>
          <p:cNvPr id="43" name="Shape 39"/>
          <p:cNvSpPr/>
          <p:nvPr/>
        </p:nvSpPr>
        <p:spPr>
          <a:xfrm>
            <a:off x="6446520" y="4114800"/>
            <a:ext cx="5102352" cy="365760"/>
          </a:xfrm>
          <a:prstGeom prst="roundRect">
            <a:avLst>
              <a:gd name="adj" fmla="val 12500"/>
            </a:avLst>
          </a:prstGeom>
          <a:solidFill>
            <a:srgbClr val="EFF3F5"/>
          </a:solidFill>
          <a:ln w="9525">
            <a:solidFill>
              <a:srgbClr val="CBD5DC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6478524" y="4160520"/>
            <a:ext cx="68580" cy="274320"/>
          </a:xfrm>
          <a:prstGeom prst="roundRect">
            <a:avLst>
              <a:gd name="adj" fmla="val 40000"/>
            </a:avLst>
          </a:prstGeom>
          <a:solidFill>
            <a:srgbClr val="086A5E"/>
          </a:solidFill>
          <a:ln/>
        </p:spPr>
      </p:sp>
      <p:sp>
        <p:nvSpPr>
          <p:cNvPr id="45" name="Text 41"/>
          <p:cNvSpPr/>
          <p:nvPr/>
        </p:nvSpPr>
        <p:spPr>
          <a:xfrm>
            <a:off x="6629400" y="4114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5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Contenido y herramientas  </a:t>
            </a:r>
            <a:pPr indent="0" marL="0">
              <a:buNone/>
            </a:pPr>
            <a:r>
              <a:rPr lang="en-US" sz="1150" dirty="0">
                <a:solidFill>
                  <a:srgbClr val="4A55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meditaciones, guías y protocolos</a:t>
            </a:r>
            <a:endParaRPr lang="en-US" sz="1150" dirty="0"/>
          </a:p>
        </p:txBody>
      </p:sp>
      <p:sp>
        <p:nvSpPr>
          <p:cNvPr id="46" name="Shape 42"/>
          <p:cNvSpPr/>
          <p:nvPr/>
        </p:nvSpPr>
        <p:spPr>
          <a:xfrm>
            <a:off x="6446520" y="4549140"/>
            <a:ext cx="5102352" cy="365760"/>
          </a:xfrm>
          <a:prstGeom prst="roundRect">
            <a:avLst>
              <a:gd name="adj" fmla="val 12500"/>
            </a:avLst>
          </a:prstGeom>
          <a:solidFill>
            <a:srgbClr val="EFF3F5"/>
          </a:solidFill>
          <a:ln w="9525">
            <a:solidFill>
              <a:srgbClr val="CBD5DC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6478524" y="4594860"/>
            <a:ext cx="68580" cy="274320"/>
          </a:xfrm>
          <a:prstGeom prst="roundRect">
            <a:avLst>
              <a:gd name="adj" fmla="val 40000"/>
            </a:avLst>
          </a:prstGeom>
          <a:solidFill>
            <a:srgbClr val="086A5E"/>
          </a:solidFill>
          <a:ln/>
        </p:spPr>
      </p:sp>
      <p:sp>
        <p:nvSpPr>
          <p:cNvPr id="48" name="Text 44"/>
          <p:cNvSpPr/>
          <p:nvPr/>
        </p:nvSpPr>
        <p:spPr>
          <a:xfrm>
            <a:off x="6629400" y="45491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5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Nada clínico en el muro  </a:t>
            </a:r>
            <a:pPr indent="0" marL="0">
              <a:buNone/>
            </a:pPr>
            <a:r>
              <a:rPr lang="en-US" sz="1150" dirty="0">
                <a:solidFill>
                  <a:srgbClr val="4A55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está prohibido por diseño, no por política</a:t>
            </a:r>
            <a:endParaRPr lang="en-US" sz="1150" dirty="0"/>
          </a:p>
        </p:txBody>
      </p:sp>
      <p:sp>
        <p:nvSpPr>
          <p:cNvPr id="49" name="Shape 45"/>
          <p:cNvSpPr/>
          <p:nvPr/>
        </p:nvSpPr>
        <p:spPr>
          <a:xfrm>
            <a:off x="713232" y="5468112"/>
            <a:ext cx="1912925" cy="347472"/>
          </a:xfrm>
          <a:prstGeom prst="roundRect">
            <a:avLst>
              <a:gd name="adj" fmla="val 50000"/>
            </a:avLst>
          </a:prstGeom>
          <a:solidFill>
            <a:srgbClr val="EFF3F5"/>
          </a:solidFill>
          <a:ln w="9525">
            <a:solidFill>
              <a:srgbClr val="CBD5DC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859536" y="5468112"/>
            <a:ext cx="173004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5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</a:t>
            </a:r>
            <a:pPr indent="0" marL="0">
              <a:buNone/>
            </a:pPr>
            <a:r>
              <a:rPr lang="en-US" sz="1150" dirty="0">
                <a:solidFill>
                  <a:srgbClr val="4A55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audios guiados</a:t>
            </a:r>
            <a:endParaRPr lang="en-US" sz="1300" dirty="0"/>
          </a:p>
        </p:txBody>
      </p:sp>
      <p:sp>
        <p:nvSpPr>
          <p:cNvPr id="51" name="Shape 47"/>
          <p:cNvSpPr/>
          <p:nvPr/>
        </p:nvSpPr>
        <p:spPr>
          <a:xfrm>
            <a:off x="2772461" y="5468112"/>
            <a:ext cx="1629461" cy="347472"/>
          </a:xfrm>
          <a:prstGeom prst="roundRect">
            <a:avLst>
              <a:gd name="adj" fmla="val 50000"/>
            </a:avLst>
          </a:prstGeom>
          <a:solidFill>
            <a:srgbClr val="EFF3F5"/>
          </a:solidFill>
          <a:ln w="9525">
            <a:solidFill>
              <a:srgbClr val="CBD5DC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2918765" y="5468112"/>
            <a:ext cx="144658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5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144 </a:t>
            </a:r>
            <a:pPr indent="0" marL="0">
              <a:buNone/>
            </a:pPr>
            <a:r>
              <a:rPr lang="en-US" sz="1150" dirty="0">
                <a:solidFill>
                  <a:srgbClr val="4A55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emociones</a:t>
            </a:r>
            <a:endParaRPr lang="en-US" sz="1300" dirty="0"/>
          </a:p>
        </p:txBody>
      </p:sp>
      <p:sp>
        <p:nvSpPr>
          <p:cNvPr id="53" name="Shape 49"/>
          <p:cNvSpPr/>
          <p:nvPr/>
        </p:nvSpPr>
        <p:spPr>
          <a:xfrm>
            <a:off x="4548226" y="5468112"/>
            <a:ext cx="2747772" cy="347472"/>
          </a:xfrm>
          <a:prstGeom prst="roundRect">
            <a:avLst>
              <a:gd name="adj" fmla="val 50000"/>
            </a:avLst>
          </a:prstGeom>
          <a:solidFill>
            <a:srgbClr val="EFF3F5"/>
          </a:solidFill>
          <a:ln w="9525">
            <a:solidFill>
              <a:srgbClr val="CBD5DC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4694530" y="5468112"/>
            <a:ext cx="25648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5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 </a:t>
            </a:r>
            <a:pPr indent="0" marL="0">
              <a:buNone/>
            </a:pPr>
            <a:r>
              <a:rPr lang="en-US" sz="1150" dirty="0">
                <a:solidFill>
                  <a:srgbClr val="4A55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parámetros de laboratorio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7442302" y="5468112"/>
            <a:ext cx="1912925" cy="347472"/>
          </a:xfrm>
          <a:prstGeom prst="roundRect">
            <a:avLst>
              <a:gd name="adj" fmla="val 50000"/>
            </a:avLst>
          </a:prstGeom>
          <a:solidFill>
            <a:srgbClr val="EFF3F5"/>
          </a:solidFill>
          <a:ln w="9525">
            <a:solidFill>
              <a:srgbClr val="CBD5DC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7588606" y="5468112"/>
            <a:ext cx="173004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5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 </a:t>
            </a:r>
            <a:pPr indent="0" marL="0">
              <a:buNone/>
            </a:pPr>
            <a:r>
              <a:rPr lang="en-US" sz="1150" dirty="0">
                <a:solidFill>
                  <a:srgbClr val="4A55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intervenciones</a:t>
            </a:r>
            <a:endParaRPr lang="en-US" sz="1300" dirty="0"/>
          </a:p>
        </p:txBody>
      </p:sp>
      <p:sp>
        <p:nvSpPr>
          <p:cNvPr id="57" name="Shape 53"/>
          <p:cNvSpPr/>
          <p:nvPr/>
        </p:nvSpPr>
        <p:spPr>
          <a:xfrm>
            <a:off x="713232" y="6016752"/>
            <a:ext cx="41148" cy="457200"/>
          </a:xfrm>
          <a:prstGeom prst="roundRect">
            <a:avLst>
              <a:gd name="adj" fmla="val 44444"/>
            </a:avLst>
          </a:prstGeom>
          <a:solidFill>
            <a:srgbClr val="086A5E"/>
          </a:solidFill>
          <a:ln/>
        </p:spPr>
      </p:sp>
      <p:sp>
        <p:nvSpPr>
          <p:cNvPr id="58" name="Text 54"/>
          <p:cNvSpPr/>
          <p:nvPr/>
        </p:nvSpPr>
        <p:spPr>
          <a:xfrm>
            <a:off x="896112" y="5980176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0F15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Treinta y cinco herramientas en un solo registro, y todas escriben en el mismo expediente.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iel-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4008" cy="6858000"/>
          </a:xfrm>
          <a:prstGeom prst="rect">
            <a:avLst/>
          </a:prstGeom>
        </p:spPr>
      </p:pic>
      <p:pic>
        <p:nvPicPr>
          <p:cNvPr id="3" name="Image 1" descr="molecul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237744"/>
            <a:ext cx="274320" cy="24505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21945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ATP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713232" y="658368"/>
            <a:ext cx="10835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1ABC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CÓMO SE VE POR DENTRO</a:t>
            </a:r>
            <a:endParaRPr lang="en-US" sz="1150" dirty="0"/>
          </a:p>
        </p:txBody>
      </p:sp>
      <p:sp>
        <p:nvSpPr>
          <p:cNvPr id="6" name="Shape 2"/>
          <p:cNvSpPr/>
          <p:nvPr/>
        </p:nvSpPr>
        <p:spPr>
          <a:xfrm>
            <a:off x="713232" y="914400"/>
            <a:ext cx="291694" cy="32004"/>
          </a:xfrm>
          <a:prstGeom prst="rect">
            <a:avLst/>
          </a:prstGeom>
          <a:solidFill>
            <a:srgbClr val="A8E02A"/>
          </a:solidFill>
          <a:ln/>
        </p:spPr>
      </p:sp>
      <p:sp>
        <p:nvSpPr>
          <p:cNvPr id="7" name="Shape 3"/>
          <p:cNvSpPr/>
          <p:nvPr/>
        </p:nvSpPr>
        <p:spPr>
          <a:xfrm>
            <a:off x="1001268" y="914400"/>
            <a:ext cx="291694" cy="32004"/>
          </a:xfrm>
          <a:prstGeom prst="rect">
            <a:avLst/>
          </a:prstGeom>
          <a:solidFill>
            <a:srgbClr val="6DCC48"/>
          </a:solidFill>
          <a:ln/>
        </p:spPr>
      </p:sp>
      <p:sp>
        <p:nvSpPr>
          <p:cNvPr id="8" name="Shape 4"/>
          <p:cNvSpPr/>
          <p:nvPr/>
        </p:nvSpPr>
        <p:spPr>
          <a:xfrm>
            <a:off x="1289304" y="914400"/>
            <a:ext cx="291694" cy="32004"/>
          </a:xfrm>
          <a:prstGeom prst="rect">
            <a:avLst/>
          </a:prstGeom>
          <a:solidFill>
            <a:srgbClr val="3DBF6E"/>
          </a:solidFill>
          <a:ln/>
        </p:spPr>
      </p:sp>
      <p:sp>
        <p:nvSpPr>
          <p:cNvPr id="9" name="Shape 5"/>
          <p:cNvSpPr/>
          <p:nvPr/>
        </p:nvSpPr>
        <p:spPr>
          <a:xfrm>
            <a:off x="1577340" y="914400"/>
            <a:ext cx="291694" cy="32004"/>
          </a:xfrm>
          <a:prstGeom prst="rect">
            <a:avLst/>
          </a:prstGeom>
          <a:solidFill>
            <a:srgbClr val="2EC28A"/>
          </a:solidFill>
          <a:ln/>
        </p:spPr>
      </p:sp>
      <p:sp>
        <p:nvSpPr>
          <p:cNvPr id="10" name="Shape 6"/>
          <p:cNvSpPr/>
          <p:nvPr/>
        </p:nvSpPr>
        <p:spPr>
          <a:xfrm>
            <a:off x="1865376" y="914400"/>
            <a:ext cx="291694" cy="32004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1" name="Text 7"/>
          <p:cNvSpPr/>
          <p:nvPr/>
        </p:nvSpPr>
        <p:spPr>
          <a:xfrm>
            <a:off x="713232" y="1024128"/>
            <a:ext cx="8778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6"/>
              </a:lnSpc>
              <a:buNone/>
            </a:pPr>
            <a:r>
              <a:rPr lang="en-US" sz="2900" b="1" spc="-9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Cinco cosas que la persona registra, y una que las lee todas.</a:t>
            </a:r>
            <a:endParaRPr lang="en-US" sz="2900" dirty="0"/>
          </a:p>
        </p:txBody>
      </p:sp>
      <p:sp>
        <p:nvSpPr>
          <p:cNvPr id="12" name="Shape 8"/>
          <p:cNvSpPr/>
          <p:nvPr/>
        </p:nvSpPr>
        <p:spPr>
          <a:xfrm>
            <a:off x="713232" y="2103120"/>
            <a:ext cx="50292" cy="713232"/>
          </a:xfrm>
          <a:prstGeom prst="roundRect">
            <a:avLst>
              <a:gd name="adj" fmla="val 45455"/>
            </a:avLst>
          </a:prstGeom>
          <a:solidFill>
            <a:srgbClr val="A8E02A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208483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 emocional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108960" y="2066544"/>
            <a:ext cx="8229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2D2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mapa de 144 emociones para ponerle nombre a lo que sientes, 34 audios guiados y cuatro diarios. Y si alguien escribe frases de riesgo, la app reconoce el patrón y pone enfrente la Línea de la Vida.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13232" y="3035808"/>
            <a:ext cx="50292" cy="457200"/>
          </a:xfrm>
          <a:prstGeom prst="roundRect">
            <a:avLst>
              <a:gd name="adj" fmla="val 45455"/>
            </a:avLst>
          </a:prstGeom>
          <a:solidFill>
            <a:srgbClr val="6DCC48"/>
          </a:solidFill>
          <a:ln/>
        </p:spPr>
      </p:sp>
      <p:sp>
        <p:nvSpPr>
          <p:cNvPr id="16" name="Text 12"/>
          <p:cNvSpPr/>
          <p:nvPr/>
        </p:nvSpPr>
        <p:spPr>
          <a:xfrm>
            <a:off x="914400" y="30175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 hábitos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108960" y="29992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2D2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Comida, agua, ayuno, sueño, sol y entrenamiento. Se marcan en el día y se ven en la racha.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713232" y="3712464"/>
            <a:ext cx="50292" cy="384048"/>
          </a:xfrm>
          <a:prstGeom prst="roundRect">
            <a:avLst>
              <a:gd name="adj" fmla="val 45455"/>
            </a:avLst>
          </a:prstGeom>
          <a:solidFill>
            <a:srgbClr val="3DBF6E"/>
          </a:solidFill>
          <a:ln/>
        </p:spPr>
      </p:sp>
      <p:sp>
        <p:nvSpPr>
          <p:cNvPr id="19" name="Text 15"/>
          <p:cNvSpPr/>
          <p:nvPr/>
        </p:nvSpPr>
        <p:spPr>
          <a:xfrm>
            <a:off x="914400" y="369417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 suplementos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3108960" y="36758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2D2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Qué tomas, a qué hora y si de verdad lo tomaste.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713232" y="4315968"/>
            <a:ext cx="50292" cy="384048"/>
          </a:xfrm>
          <a:prstGeom prst="roundRect">
            <a:avLst>
              <a:gd name="adj" fmla="val 45455"/>
            </a:avLst>
          </a:prstGeom>
          <a:solidFill>
            <a:srgbClr val="2EC28A"/>
          </a:solidFill>
          <a:ln/>
        </p:spPr>
      </p:sp>
      <p:sp>
        <p:nvSpPr>
          <p:cNvPr id="22" name="Text 18"/>
          <p:cNvSpPr/>
          <p:nvPr/>
        </p:nvSpPr>
        <p:spPr>
          <a:xfrm>
            <a:off x="914400" y="429768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 síntomas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3108960" y="42793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2D2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 que te pasa y cuándo te pasa, guardado con fecha para poder verlo en el tiempo.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713232" y="4919472"/>
            <a:ext cx="50292" cy="457200"/>
          </a:xfrm>
          <a:prstGeom prst="roundRect">
            <a:avLst>
              <a:gd name="adj" fmla="val 45455"/>
            </a:avLst>
          </a:prstGeom>
          <a:solidFill>
            <a:srgbClr val="1ABC9C"/>
          </a:solidFill>
          <a:ln/>
        </p:spPr>
      </p:sp>
      <p:sp>
        <p:nvSpPr>
          <p:cNvPr id="25" name="Text 21"/>
          <p:cNvSpPr/>
          <p:nvPr/>
        </p:nvSpPr>
        <p:spPr>
          <a:xfrm>
            <a:off x="914400" y="490118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 laboratorios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3108960" y="488289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2D2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Subes el PDF, la app reconoce 90 parámetros por su nombre, y ningún estudio nuevo borra a uno viejo.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713232" y="5413248"/>
            <a:ext cx="10789920" cy="749808"/>
          </a:xfrm>
          <a:prstGeom prst="roundRect">
            <a:avLst>
              <a:gd name="adj" fmla="val 10976"/>
            </a:avLst>
          </a:prstGeom>
          <a:solidFill>
            <a:srgbClr val="0E0E0E"/>
          </a:solidFill>
          <a:ln w="22225">
            <a:solidFill>
              <a:srgbClr val="2EC28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987552" y="5413248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 encima de las cinco, ARGOS, que arma cada respuesta con veinticinco piezas de información de esa persona y recuerda solo lo que ella autorizó.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BE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iel-cla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4008" cy="6858000"/>
          </a:xfrm>
          <a:prstGeom prst="rect">
            <a:avLst/>
          </a:prstGeom>
        </p:spPr>
      </p:pic>
      <p:pic>
        <p:nvPicPr>
          <p:cNvPr id="3" name="Image 1" descr="molecul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237744"/>
            <a:ext cx="274320" cy="24505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21945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0F15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ATP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713232" y="658368"/>
            <a:ext cx="10835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8A6D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PROPUESTA, NO PRODUCTO</a:t>
            </a:r>
            <a:endParaRPr lang="en-US" sz="1150" dirty="0"/>
          </a:p>
        </p:txBody>
      </p:sp>
      <p:sp>
        <p:nvSpPr>
          <p:cNvPr id="6" name="Shape 2"/>
          <p:cNvSpPr/>
          <p:nvPr/>
        </p:nvSpPr>
        <p:spPr>
          <a:xfrm>
            <a:off x="713232" y="914400"/>
            <a:ext cx="758038" cy="32004"/>
          </a:xfrm>
          <a:prstGeom prst="rect">
            <a:avLst/>
          </a:prstGeom>
          <a:solidFill>
            <a:srgbClr val="EFD54F"/>
          </a:solidFill>
          <a:ln/>
        </p:spPr>
      </p:sp>
      <p:sp>
        <p:nvSpPr>
          <p:cNvPr id="7" name="Shape 3"/>
          <p:cNvSpPr/>
          <p:nvPr/>
        </p:nvSpPr>
        <p:spPr>
          <a:xfrm>
            <a:off x="1467612" y="914400"/>
            <a:ext cx="758038" cy="32004"/>
          </a:xfrm>
          <a:prstGeom prst="rect">
            <a:avLst/>
          </a:prstGeom>
          <a:solidFill>
            <a:srgbClr val="C9A81E"/>
          </a:solidFill>
          <a:ln/>
        </p:spPr>
      </p:sp>
      <p:sp>
        <p:nvSpPr>
          <p:cNvPr id="8" name="Text 4"/>
          <p:cNvSpPr/>
          <p:nvPr/>
        </p:nvSpPr>
        <p:spPr>
          <a:xfrm>
            <a:off x="713232" y="1024128"/>
            <a:ext cx="8778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92"/>
              </a:lnSpc>
              <a:buNone/>
            </a:pPr>
            <a:r>
              <a:rPr lang="en-US" sz="2800" b="1" spc="-90" kern="0" dirty="0">
                <a:solidFill>
                  <a:srgbClr val="0F15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expediente sirve a una persona. Cien mil expedientes, con permiso, sirven a un estado.</a:t>
            </a:r>
            <a:endParaRPr lang="en-US" sz="2800" dirty="0"/>
          </a:p>
        </p:txBody>
      </p:sp>
      <p:sp>
        <p:nvSpPr>
          <p:cNvPr id="9" name="Shape 5"/>
          <p:cNvSpPr/>
          <p:nvPr/>
        </p:nvSpPr>
        <p:spPr>
          <a:xfrm>
            <a:off x="713232" y="2395728"/>
            <a:ext cx="5102352" cy="2395728"/>
          </a:xfrm>
          <a:prstGeom prst="roundRect">
            <a:avLst>
              <a:gd name="adj" fmla="val 3435"/>
            </a:avLst>
          </a:prstGeom>
          <a:solidFill>
            <a:srgbClr val="EFF3F5"/>
          </a:solidFill>
          <a:ln w="9525">
            <a:solidFill>
              <a:srgbClr val="CBD5DC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41248" y="2395728"/>
            <a:ext cx="4846320" cy="41148"/>
          </a:xfrm>
          <a:prstGeom prst="rect">
            <a:avLst/>
          </a:prstGeom>
          <a:solidFill>
            <a:srgbClr val="3DBF6E"/>
          </a:solidFill>
          <a:ln/>
        </p:spPr>
      </p:sp>
      <p:sp>
        <p:nvSpPr>
          <p:cNvPr id="11" name="Text 7"/>
          <p:cNvSpPr/>
          <p:nvPr/>
        </p:nvSpPr>
        <p:spPr>
          <a:xfrm>
            <a:off x="969264" y="25603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-40" kern="0" dirty="0">
                <a:solidFill>
                  <a:srgbClr val="0F15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 que ya recibe hoy un municipio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969264" y="2944368"/>
            <a:ext cx="46268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4A55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herramienta ya está hecha y ya funciona. Las mentorías con profesionales de salud ya corren cada semana. Cada persona que la usa se lleva su expediente completo.</a:t>
            </a:r>
            <a:endParaRPr lang="en-US" sz="1150" dirty="0"/>
          </a:p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4A55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municipio no monta servidores, no contrata desarrollo y no espera a que nadie construya nada.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46520" y="2395728"/>
            <a:ext cx="5102352" cy="2395728"/>
          </a:xfrm>
          <a:prstGeom prst="roundRect">
            <a:avLst>
              <a:gd name="adj" fmla="val 3435"/>
            </a:avLst>
          </a:prstGeom>
          <a:solidFill>
            <a:srgbClr val="EFF3F5"/>
          </a:solidFill>
          <a:ln w="9525">
            <a:solidFill>
              <a:srgbClr val="CBD5D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574536" y="2395728"/>
            <a:ext cx="4846320" cy="41148"/>
          </a:xfrm>
          <a:prstGeom prst="rect">
            <a:avLst/>
          </a:prstGeom>
          <a:solidFill>
            <a:srgbClr val="086A5E"/>
          </a:solidFill>
          <a:ln/>
        </p:spPr>
      </p:sp>
      <p:sp>
        <p:nvSpPr>
          <p:cNvPr id="15" name="Text 11"/>
          <p:cNvSpPr/>
          <p:nvPr/>
        </p:nvSpPr>
        <p:spPr>
          <a:xfrm>
            <a:off x="6702552" y="25603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-40" kern="0" dirty="0">
                <a:solidFill>
                  <a:srgbClr val="0F15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 que se podría construir encima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6702552" y="2944368"/>
            <a:ext cx="46268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4A55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 consentimiento y con los estándares legales y de salud que corresponden, esos datos permitirían hacer ciencia con gente de aquí: estudios de población y estudios de herencia familiar, no traducidos de otro país.</a:t>
            </a:r>
            <a:endParaRPr lang="en-US" sz="1150" dirty="0"/>
          </a:p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4A55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 permitirían saber qué insumos va a necesitar el sistema de salud, dónde conviene poner una campaña y qué está pasando en una colonia antes de que llegue a la clínica.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13232" y="5047488"/>
            <a:ext cx="41148" cy="658368"/>
          </a:xfrm>
          <a:prstGeom prst="roundRect">
            <a:avLst>
              <a:gd name="adj" fmla="val 44444"/>
            </a:avLst>
          </a:prstGeom>
          <a:solidFill>
            <a:srgbClr val="086A5E"/>
          </a:solidFill>
          <a:ln/>
        </p:spPr>
      </p:sp>
      <p:sp>
        <p:nvSpPr>
          <p:cNvPr id="18" name="Text 14"/>
          <p:cNvSpPr/>
          <p:nvPr/>
        </p:nvSpPr>
        <p:spPr>
          <a:xfrm>
            <a:off x="896112" y="5010912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0F15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Nadie va a tener esos datos si nadie empieza a levantarlos, y se levantan usando la herramienta, no comprándolos después. Una serie de tres años empieza hoy o empieza en tres años.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713232" y="596188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día que entre la genética, el consejo deja de ser para gente parecida a ti y pasa a ser para ti. Ese módulo todavía no existe, y lo de esta lámina tampoco. Todo lo de las láminas 3 y 4 ya funciona hoy.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ATP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ATP · Qué es y por qué ahora</dc:title>
  <dc:subject>PptxGenJS Presentation</dc:subject>
  <dc:creator>ATP</dc:creator>
  <cp:lastModifiedBy>ATP</cp:lastModifiedBy>
  <cp:revision>1</cp:revision>
  <dcterms:created xsi:type="dcterms:W3CDTF">2026-08-21T01:25:39Z</dcterms:created>
  <dcterms:modified xsi:type="dcterms:W3CDTF">2026-08-21T01:25:39Z</dcterms:modified>
</cp:coreProperties>
</file>